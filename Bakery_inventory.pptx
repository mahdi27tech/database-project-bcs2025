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1" r:id="rId7"/>
    <p:sldId id="263" r:id="rId8"/>
    <p:sldId id="264" r:id="rId9"/>
    <p:sldId id="265" r:id="rId10"/>
    <p:sldId id="268" r:id="rId11"/>
    <p:sldId id="269" r:id="rId12"/>
    <p:sldId id="270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2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12115" y="368300"/>
            <a:ext cx="1153160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>
                <a:solidFill>
                  <a:schemeClr val="bg1"/>
                </a:solidFill>
              </a:rPr>
              <a:t>MBARARA UNIVERSITY OF SCIENCE AND TECHNOLOGY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r>
              <a:rPr lang="en-US" sz="2400">
                <a:solidFill>
                  <a:schemeClr val="bg1"/>
                </a:solidFill>
              </a:rPr>
              <a:t>DATABASE MANAGEMENT SYSTEMS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BAKERY MANAGEMENT SYSTEM</a:t>
            </a:r>
            <a:endParaRPr lang="en-US" sz="3200" b="1">
              <a:solidFill>
                <a:schemeClr val="bg1"/>
              </a:solidFill>
            </a:endParaRPr>
          </a:p>
          <a:p>
            <a:pPr algn="ctr"/>
            <a:r>
              <a:rPr lang="en-US" sz="2400" i="1">
                <a:solidFill>
                  <a:srgbClr val="FF0000"/>
                </a:solidFill>
                <a:latin typeface="Georgia" panose="02040502050405020303" charset="0"/>
                <a:cs typeface="Georgia" panose="02040502050405020303" charset="0"/>
              </a:rPr>
              <a:t>Inventory Module</a:t>
            </a:r>
            <a:endParaRPr lang="en-US" sz="2400" i="1">
              <a:solidFill>
                <a:srgbClr val="FF0000"/>
              </a:solidFill>
              <a:latin typeface="Georgia" panose="02040502050405020303" charset="0"/>
              <a:cs typeface="Georgia" panose="02040502050405020303" charset="0"/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r>
              <a:rPr lang="en-US" sz="2400">
                <a:solidFill>
                  <a:schemeClr val="bg1"/>
                </a:solidFill>
              </a:rPr>
              <a:t>Individual Project Report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ctr"/>
            <a:r>
              <a:rPr lang="en-US" sz="2400">
                <a:solidFill>
                  <a:schemeClr val="bg1"/>
                </a:solidFill>
              </a:rPr>
              <a:t>Submitted by: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r>
              <a:rPr lang="en-US" sz="2400" b="1">
                <a:solidFill>
                  <a:schemeClr val="bg1"/>
                </a:solidFill>
              </a:rPr>
              <a:t>Lukwago Mahad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r>
              <a:rPr lang="en-US" sz="2400">
                <a:solidFill>
                  <a:schemeClr val="bg1"/>
                </a:solidFill>
              </a:rPr>
              <a:t>May 2026</a:t>
            </a:r>
            <a:endParaRPr 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12115" y="368300"/>
            <a:ext cx="1153160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None/>
            </a:pPr>
            <a:r>
              <a:rPr lang="en-US" sz="3200">
                <a:solidFill>
                  <a:schemeClr val="bg1"/>
                </a:solidFill>
              </a:rPr>
              <a:t>The Inventory module is designed to help a bakery efficiently track raw: </a:t>
            </a:r>
            <a:endParaRPr lang="en-US" sz="320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ingredients</a:t>
            </a:r>
            <a:endParaRPr lang="en-US" sz="280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finished baked products</a:t>
            </a:r>
            <a:endParaRPr lang="en-US" sz="280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supplier relationships</a:t>
            </a:r>
            <a:endParaRPr lang="en-US" sz="2800">
              <a:solidFill>
                <a:schemeClr val="bg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1"/>
                </a:solidFill>
              </a:rPr>
              <a:t>stock purchase orders. </a:t>
            </a:r>
            <a:endParaRPr lang="en-US" sz="2800">
              <a:solidFill>
                <a:schemeClr val="bg1"/>
              </a:solidFill>
            </a:endParaRPr>
          </a:p>
          <a:p>
            <a:pPr algn="l"/>
            <a:endParaRPr lang="en-US" sz="2400">
              <a:solidFill>
                <a:schemeClr val="bg1"/>
              </a:solidFill>
            </a:endParaRPr>
          </a:p>
          <a:p>
            <a:pPr algn="l"/>
            <a:r>
              <a:rPr lang="en-US" sz="2400">
                <a:solidFill>
                  <a:schemeClr val="bg1"/>
                </a:solidFill>
              </a:rPr>
              <a:t>The system provides real-time visibility into current stock levels, automates low-stock alerting, and maintains a complete audit trail of all stock movements. Key features include a recipe cost estimator, automated stock deduction upon production, and automatic restocking of ingredients when purchase orders are received.</a:t>
            </a:r>
            <a:endParaRPr lang="en-US" sz="2400">
              <a:solidFill>
                <a:schemeClr val="bg1"/>
              </a:solidFill>
            </a:endParaRPr>
          </a:p>
          <a:p>
            <a:pPr algn="ctr"/>
            <a:endParaRPr lang="en-US" sz="2400">
              <a:solidFill>
                <a:schemeClr val="bg1"/>
              </a:solidFill>
            </a:endParaRPr>
          </a:p>
          <a:p>
            <a:pPr algn="l"/>
            <a:endParaRPr lang="en-US" sz="2400">
              <a:solidFill>
                <a:schemeClr val="bg1"/>
              </a:solidFill>
            </a:endParaRPr>
          </a:p>
          <a:p>
            <a:pPr algn="l"/>
            <a:endParaRPr 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12115" y="368300"/>
            <a:ext cx="1153160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The system supports the following tasks and operations:</a:t>
            </a: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•Tracking the quantity, cost, and reorder thresholds of raw ingredients</a:t>
            </a: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•Monitoring stock levels of finished baked products ready for sale</a:t>
            </a: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•Managing supplier information and linking suppliers to specific ingredients</a:t>
            </a: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•Creating and tracking purchase orders for ingredient restocking</a:t>
            </a: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•Recording production events and automatically deducting ingredient usage</a:t>
            </a: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•Generating low-stock alerts to prompt timely restocking decisions</a:t>
            </a:r>
            <a:endParaRPr lang="en-US" sz="2800">
              <a:solidFill>
                <a:schemeClr val="bg1"/>
              </a:solidFill>
            </a:endParaRPr>
          </a:p>
          <a:p>
            <a:pPr indent="0" algn="l">
              <a:buNone/>
            </a:pPr>
            <a:r>
              <a:rPr lang="en-US" sz="2800">
                <a:solidFill>
                  <a:schemeClr val="bg1"/>
                </a:solidFill>
              </a:rPr>
              <a:t>•Estimating the cost of producing each product based on its recipe</a:t>
            </a:r>
            <a:endParaRPr 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56000" y="1420813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1200" b="1" i="1">
                <a:solidFill>
                  <a:srgbClr val="333333"/>
                </a:solidFill>
                <a:latin typeface="Times New Roman" panose="02020603050405020304" charset="0"/>
              </a:rPr>
              <a:t>3.1.2 Entities and Their Attributes</a:t>
            </a:r>
            <a:r>
              <a:rPr lang="en-US" sz="1200" b="0">
                <a:latin typeface="Times New Roman" panose="02020603050405020304" charset="0"/>
              </a:rPr>
              <a:t> </a:t>
            </a:r>
            <a:endParaRPr lang="en-US"/>
          </a:p>
        </p:txBody>
      </p:sp>
      <p:graphicFrame>
        <p:nvGraphicFramePr>
          <p:cNvPr id="5" name="Table 4"/>
          <p:cNvGraphicFramePr/>
          <p:nvPr/>
        </p:nvGraphicFramePr>
        <p:xfrm>
          <a:off x="224155" y="760095"/>
          <a:ext cx="11817985" cy="5782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18740"/>
                <a:gridCol w="9199245"/>
              </a:tblGrid>
              <a:tr h="4133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Entity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Attributes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121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supplier_id (PK), name, contact_name, email, phone, address, created_at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Unit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unit_id (PK), name, abbreviation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category_id (PK), name, type (ingredient/product/packaging/equipment)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59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Ingredient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ingredient_id (PK), name, category_id (FK), unit_id (FK), quantity_in_stock, reorder_level, cost_per_unit, supplier_id (FK), notes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616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Product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product_id (PK), name, category_id (FK), unit_id (FK), quantity_in_stock, reorder_level, sale_price, notes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121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recipe_id (PK), product_id (FK), name, yield_quantity, instructions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4133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 Ingredient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recipe_id (FK), ingredient_id (FK), quantity_needed, unit_id (FK)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6167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Purchase Order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po_id (PK), supplier_id (FK), order_date, expected_date, received_date, status, total_cost, notes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60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Purchase Order Item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poi_id (PK), po_id (FK), ingredient_id (FK), quantity_ordered, unit_id (FK), cost_per_unit, quantity_received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6610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Stock Movement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movement_id (PK), movement_type, item_type, item_id, quantity_change, reference_id, notes, moved_at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46075" y="120650"/>
            <a:ext cx="3843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>
                <a:solidFill>
                  <a:schemeClr val="bg1"/>
                </a:solidFill>
                <a:latin typeface="C059" panose="00000500000000000000" charset="0"/>
                <a:cs typeface="C059" panose="00000500000000000000" charset="0"/>
              </a:rPr>
              <a:t>Entities and Their Attributes</a:t>
            </a:r>
            <a:endParaRPr lang="en-US" b="1" i="1">
              <a:solidFill>
                <a:schemeClr val="bg1"/>
              </a:solidFill>
              <a:latin typeface="C059" panose="00000500000000000000" charset="0"/>
              <a:cs typeface="C059" panose="0000050000000000000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0" y="125730"/>
            <a:ext cx="10709910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200" b="1" i="1">
                <a:solidFill>
                  <a:schemeClr val="bg1"/>
                </a:solidFill>
                <a:latin typeface="Times New Roman" panose="02020603050405020304" charset="0"/>
              </a:rPr>
              <a:t>Entity Relationships</a:t>
            </a:r>
            <a:r>
              <a:rPr lang="en-US" sz="1200" b="0">
                <a:solidFill>
                  <a:schemeClr val="bg1"/>
                </a:solidFill>
                <a:latin typeface="Times New Roman" panose="02020603050405020304" charset="0"/>
              </a:rPr>
              <a:t> The following relationships exist among the entities in the inventory system: </a:t>
            </a:r>
            <a:endParaRPr lang="en-US" sz="1200" b="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0" y="675640"/>
          <a:ext cx="12081510" cy="592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3100"/>
                <a:gridCol w="2409190"/>
                <a:gridCol w="2945130"/>
                <a:gridCol w="3514090"/>
              </a:tblGrid>
              <a:tr h="3327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Relationship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Type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Multiplicity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Description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15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 — Ingredient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One-to-Many (1:N)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supplier can supply many ingredients; each ingredient has one primary supplier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 — Ingredient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One-to-Many (1:N)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category groups many ingredients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1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 — Product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One-to-Many (1:N)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category groups many products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Unit — Ingredient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One-to-Many (1:N)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unit of measure is used by many ingredients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Unit — Product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One-to-Many (1:N)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unit of measure is used by many products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14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Product — Recipe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One-to-Many (1:N)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product can have many recipe versions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279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 — Ingredient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 (via Recipe Ingredient)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Many-to-Many (M:N)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A recipe uses many ingredients; an ingredient can appear in many recipes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76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 — Purchase Order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One-to-Many (1:N)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supplier fulfills many purchase orders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315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Purchase Order — Ingredient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Binary (via PO Item)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Many-to-Many (M:N)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One PO covers many ingredients; one ingredient can appear in many POs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-96520" y="0"/>
          <a:ext cx="12336780" cy="68586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36780"/>
              </a:tblGrid>
              <a:tr h="68586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ERD — Bakery Inventory Module</a:t>
                      </a:r>
                      <a:r>
                        <a:rPr lang="en-US" sz="2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 </a:t>
                      </a:r>
                      <a:endParaRPr lang="en-US" sz="2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  <a:p>
                      <a:pPr indent="0">
                        <a:buNone/>
                      </a:pPr>
                      <a:endParaRPr lang="en-US" sz="2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SUPPLIER (supplier_id PK, name, contact_name, email, phone, address)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    |1 |1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    |  |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    |N |N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INGREDIENT (ingredient_id PK, name, category_id FK, unit_idFK,quantity_in_stock,     reorder_level, cost_per_unit, supplier_id FK)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    |N |M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    |  |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    |1 |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CATEGORY RECIPE_INGREDIENT (recipe_id FK, ingredient_id FK,(category_id PK, quantity_needed, unit_id FK)name, type)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|M|1 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| |N 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 |1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PRODUCT (product_id PK, name, category_id FK, unit_id FK, RECIPEquantity_in_stock, reorder_level, sale_price) (recipe_id PK,product_id FK,yield_quantity)</a:t>
                      </a:r>
                      <a:r>
                        <a:rPr lang="en-US" sz="2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 </a:t>
                      </a:r>
                      <a:endParaRPr lang="en-US" sz="2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PURCHASE_ORDER (po_id PK, supplier_id FK, order_date,expected_date, status, total_cost)|1|N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</a:txBody>
                  <a:tcPr marL="127000" marR="127000" marT="76200" marB="762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-96520" y="0"/>
          <a:ext cx="12336780" cy="68586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36780"/>
              </a:tblGrid>
              <a:tr h="68586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PURCHASE_ORDER_ITEM (poi_id PK, po_id FK, ingredient_id FK,quantity_ordered, cost_per_unit, quantity_received)</a:t>
                      </a:r>
                      <a:r>
                        <a:rPr lang="en-US" sz="2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 </a:t>
                      </a:r>
                      <a:endParaRPr lang="en-US" sz="2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  <a:p>
                      <a:pPr indent="0">
                        <a:buNone/>
                      </a:pPr>
                      <a:endParaRPr lang="en-US" sz="2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latin typeface="Courier New" panose="02070309020205020404" charset="0"/>
                        </a:rPr>
                        <a:t>STOCK_MOVEMENT (movement_id PK, movement_type, item_type,item_id, quantity_change, reference_id, moved_at)</a:t>
                      </a:r>
                      <a:endParaRPr lang="en-US" sz="2000" b="0">
                        <a:solidFill>
                          <a:schemeClr val="bg1"/>
                        </a:solidFill>
                        <a:latin typeface="Courier New" panose="02070309020205020404" charset="0"/>
                      </a:endParaRPr>
                    </a:p>
                  </a:txBody>
                  <a:tcPr marL="127000" marR="127000" marT="76200" marB="762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0" y="1250315"/>
          <a:ext cx="12085955" cy="56076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24375"/>
                <a:gridCol w="1270000"/>
                <a:gridCol w="6291580"/>
              </a:tblGrid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Table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Primary Key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Foreign Keys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—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units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unit_id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—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categories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—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0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ingredients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ingredient_id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category_</a:t>
                      </a: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id </a:t>
                      </a: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→ categories, unit_id → units, supplier_id → suppliers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products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product_id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category_id → categories, unit_id → units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product_id → products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4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recipe_ingredients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(recipe_id, ingredient_id)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recipe_id → recipes, ingredient_id → ingredients, unit_id → units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purchase_orders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po_id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supplier_id → suppliers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0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purchase_order_items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poi_id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po_id → purchase_orders, ingredient_id → ingredients, unit_id → units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stock_movements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movement_id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— 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10515" y="178435"/>
            <a:ext cx="8094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Database Schema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The physical schema consists of nine tables linked through foreign key relationships. The diagram below summarizes the linked tables: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555365" y="35243"/>
            <a:ext cx="508000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1600" b="1">
                <a:solidFill>
                  <a:schemeClr val="bg1"/>
                </a:solidFill>
                <a:latin typeface="Times New Roman" panose="02020603050405020304" charset="0"/>
              </a:rPr>
              <a:t>4.2 Sample Data</a:t>
            </a:r>
            <a:r>
              <a:rPr lang="en-US" sz="1600" b="0">
                <a:solidFill>
                  <a:schemeClr val="bg1"/>
                </a:solidFill>
                <a:latin typeface="Times New Roman" panose="02020603050405020304" charset="0"/>
              </a:rPr>
              <a:t>The following sample data was loaded into the database for testing purposes: </a:t>
            </a:r>
            <a:r>
              <a:rPr lang="en-US" sz="1600" b="1" i="1">
                <a:solidFill>
                  <a:schemeClr val="bg1"/>
                </a:solidFill>
                <a:latin typeface="Times New Roman" panose="02020603050405020304" charset="0"/>
              </a:rPr>
              <a:t>Suppliers</a:t>
            </a:r>
            <a:endParaRPr lang="en-US" sz="1600" b="1" i="1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3230245" y="1357313"/>
          <a:ext cx="5730875" cy="59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/>
                <a:gridCol w="1397000"/>
                <a:gridCol w="1143000"/>
                <a:gridCol w="1651000"/>
                <a:gridCol w="1158875"/>
              </a:tblGrid>
              <a:tr h="3454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ID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Name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Contact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Email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Phone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1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Golden Grain Co.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Maria Lopez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maria@goldengrain.com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555-0101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2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Dairy Fresh Inc.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Tom Baker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tom@dairyfresh.com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555-0102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3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Sweet Supply Co.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Anna White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anna@sweetsupply.com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555-0103</a:t>
                      </a:r>
                      <a:endParaRPr lang="en-US" sz="16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230245" y="365950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b="1" i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ang="5400000" scaled="0"/>
                </a:gradFill>
                <a:latin typeface="Times New Roman" panose="02020603050405020304" charset="0"/>
              </a:rPr>
              <a:t>Products</a:t>
            </a:r>
            <a:endParaRPr lang="en-US" b="1" i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ang="5400000" scaled="0"/>
              </a:gradFill>
              <a:latin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3230245" y="4027805"/>
          <a:ext cx="5730875" cy="78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7500"/>
                <a:gridCol w="1270000"/>
                <a:gridCol w="762000"/>
                <a:gridCol w="952500"/>
                <a:gridCol w="1158875"/>
              </a:tblGrid>
              <a:tr h="528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Name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Category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In Stock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Reorder At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Sale Price</a:t>
                      </a:r>
                      <a:endParaRPr lang="en-US" sz="14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Classic White Bread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Breads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20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5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$3.50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Croissant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Pastries &amp; Cakes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30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10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$2.75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Chocolate Chip Cookie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Cookies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100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20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$0.75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Vanilla Sponge Cake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Pastries &amp; Cakes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5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2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$18.00</a:t>
                      </a:r>
                      <a:endParaRPr lang="en-US" sz="14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238500" y="-317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400" b="1">
                <a:solidFill>
                  <a:srgbClr val="2E4057"/>
                </a:solidFill>
                <a:latin typeface="Times New Roman" panose="02020603050405020304" charset="0"/>
              </a:rPr>
              <a:t>Sample Queries and Results</a:t>
            </a:r>
            <a:endParaRPr lang="en-US" sz="2400" b="1">
              <a:solidFill>
                <a:srgbClr val="2E4057"/>
              </a:solidFill>
              <a:latin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5270" y="460375"/>
            <a:ext cx="11551920" cy="3353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algn="l"/>
            <a:r>
              <a:rPr lang="en-US" sz="2000" b="1">
                <a:solidFill>
                  <a:schemeClr val="bg1"/>
                </a:solidFill>
                <a:latin typeface="Times New Roman" panose="02020603050405020304" charset="0"/>
              </a:rPr>
              <a:t>Supplier Overview with Linked Ingredients</a:t>
            </a:r>
            <a:r>
              <a:rPr lang="en-US" sz="1600" b="0">
                <a:solidFill>
                  <a:schemeClr val="bg1"/>
                </a:solidFill>
                <a:latin typeface="Courier New" panose="02070309020205020404" charset="0"/>
              </a:rPr>
              <a:t>SELECT s.name AS supplier, s.contact_name, s.email,       COUNT(i.ingredient_id) AS ingredients_supplied,       SUM(i.quantity_in_stock * i.cost_per_unit) AS stock_valueFROM suppliers sLEFT JOIN ingredients i ON i.supplier_id = s.supplier_idGROUP BY s.supplier_idORDER BY stock_value DESC;</a:t>
            </a:r>
            <a:r>
              <a:rPr lang="en-US" sz="2000" b="0">
                <a:solidFill>
                  <a:schemeClr val="bg1"/>
                </a:solidFill>
                <a:latin typeface="Times New Roman" panose="02020603050405020304" charset="0"/>
              </a:rPr>
              <a:t> Result: Provides a summary of each supplier along with how many ingredients they supply and the total current stock value of those ingredients. This supports supplier relationship management and spend analysis. </a:t>
            </a:r>
            <a:endParaRPr lang="en-US" sz="2000" b="0">
              <a:solidFill>
                <a:schemeClr val="bg1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98425" y="4095115"/>
          <a:ext cx="11995150" cy="236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1735"/>
                <a:gridCol w="2658110"/>
                <a:gridCol w="1860550"/>
                <a:gridCol w="3754755"/>
              </a:tblGrid>
              <a:tr h="5905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Supplier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Contact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Ingredients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Stock Value ($)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05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Golden Grain Co.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Maria Lopez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3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68.00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05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Dairy Fresh Inc.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Tom Baker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3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90.85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055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Sweet Supply Co.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Anna White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3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Times New Roman" panose="02020603050405020304" charset="0"/>
                        </a:rPr>
                        <a:t>34.75</a:t>
                      </a:r>
                      <a:endParaRPr lang="en-US" sz="1800" b="0">
                        <a:solidFill>
                          <a:schemeClr val="bg1"/>
                        </a:solidFill>
                        <a:latin typeface="Times New Roman" panose="02020603050405020304" charset="0"/>
                      </a:endParaRPr>
                    </a:p>
                  </a:txBody>
                  <a:tcPr marL="76200" marR="76200" marT="50800" marB="50800" vert="horz" anchor="t" anchorCtr="0">
                    <a:lnL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0" y="0"/>
            <a:ext cx="12080875" cy="61239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en-US" sz="3200" b="1">
                <a:solidFill>
                  <a:schemeClr val="accent5"/>
                </a:solidFill>
                <a:latin typeface="Times New Roman" panose="02020603050405020304" charset="0"/>
              </a:rPr>
              <a:t>Bibliography</a:t>
            </a:r>
            <a:r>
              <a:rPr lang="en-US" sz="2400" b="0">
                <a:solidFill>
                  <a:schemeClr val="bg1"/>
                </a:solidFill>
                <a:latin typeface="Times New Roman" panose="02020603050405020304" charset="0"/>
              </a:rPr>
              <a:t>1. Coronel, C., &amp; Morris, S. (2019). Database Systems: Design, Implementation, and Management (13th ed.). Cengage Learning. 2. MySQL Documentation. (2024). MySQL 8.0 Reference Manual. Oracle Corporation. https://dev.mysql.com/doc/refman/8.0/en/ 3. Elmasri, R., &amp; Navathe, S. B. (2015). Fundamentals of Database Systems (7th ed.). Pearson. 4. Oracle Corporation. (2024). MySQL Workbench: Visual Database Design Tool. https://www.mysql.com/products/workbench/ 5. Gillenson, M. L. (2012). Fundamentals of Database Management Systems (2nd ed.). Wiley. 6. Toast Inc. (2023). Restaurant Inventory Management: Best Practices Guide. Toast POS. https://pos.toasttab.com/resources/restaurant-inventory-management</a:t>
            </a:r>
            <a:endParaRPr lang="en-US" sz="2400" b="0">
              <a:solidFill>
                <a:schemeClr val="bg1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6716</Words>
  <Application>WPS Presentation</Application>
  <PresentationFormat>宽屏</PresentationFormat>
  <Paragraphs>418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Georgia</vt:lpstr>
      <vt:lpstr>Times New Roman</vt:lpstr>
      <vt:lpstr>C059</vt:lpstr>
      <vt:lpstr>Courier New</vt:lpstr>
      <vt:lpstr>Microsoft YaHei</vt:lpstr>
      <vt:lpstr>Droid Sans Fallback</vt:lpstr>
      <vt:lpstr>Arial Unicode MS</vt:lpstr>
      <vt:lpstr>Arial Black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mahdi</cp:lastModifiedBy>
  <cp:revision>11</cp:revision>
  <dcterms:created xsi:type="dcterms:W3CDTF">2026-05-06T18:45:30Z</dcterms:created>
  <dcterms:modified xsi:type="dcterms:W3CDTF">2026-05-06T18:45:30Z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